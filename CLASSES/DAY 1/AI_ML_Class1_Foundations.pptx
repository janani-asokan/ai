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30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B75AAC-3C81-FFC1-CE3C-0FB8A41264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574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Foundations of Artificial Intelligence &amp;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AI &amp; ML through Real-Life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Artificial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AI enables machines to think, learn, and make decisions like humans</a:t>
            </a:r>
          </a:p>
          <a:p>
            <a:pPr marL="0" indent="0">
              <a:buNone/>
            </a:pPr>
            <a:r>
              <a:rPr dirty="0"/>
              <a:t>• Mimics human intelligence using machines</a:t>
            </a:r>
          </a:p>
          <a:p>
            <a:pPr marL="0" indent="0">
              <a:buNone/>
            </a:pPr>
            <a:r>
              <a:rPr dirty="0"/>
              <a:t>• Focuses on problem-solving and decision-making</a:t>
            </a:r>
          </a:p>
          <a:p>
            <a:endParaRPr dirty="0"/>
          </a:p>
          <a:p>
            <a:r>
              <a:rPr dirty="0"/>
              <a:t>Example: Google Maps choosing best route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Daily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Google Maps &amp; GPS</a:t>
            </a:r>
          </a:p>
          <a:p>
            <a:pPr marL="0" indent="0">
              <a:buNone/>
            </a:pPr>
            <a:r>
              <a:rPr dirty="0"/>
              <a:t>• Netflix &amp; YouTube recommendations</a:t>
            </a:r>
          </a:p>
          <a:p>
            <a:pPr marL="0" indent="0">
              <a:buNone/>
            </a:pPr>
            <a:r>
              <a:rPr dirty="0"/>
              <a:t>• Face unlock &amp; voice assistants</a:t>
            </a:r>
          </a:p>
          <a:p>
            <a:pPr marL="0" indent="0">
              <a:buNone/>
            </a:pPr>
            <a:r>
              <a:rPr dirty="0"/>
              <a:t>• Email spam filtering</a:t>
            </a:r>
          </a:p>
          <a:p>
            <a:endParaRPr dirty="0"/>
          </a:p>
          <a:p>
            <a:r>
              <a:rPr dirty="0"/>
              <a:t>AI is already part of our daily routine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&amp; Evolution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1950 – Alan Turing asks: Can machines think?</a:t>
            </a:r>
          </a:p>
          <a:p>
            <a:pPr marL="0" indent="0">
              <a:buNone/>
            </a:pPr>
            <a:r>
              <a:rPr dirty="0"/>
              <a:t>• 1997 – Computer defeats chess champion</a:t>
            </a:r>
          </a:p>
          <a:p>
            <a:pPr marL="0" indent="0">
              <a:buNone/>
            </a:pPr>
            <a:r>
              <a:rPr dirty="0"/>
              <a:t>• 2012 – AI learns images &amp; speech</a:t>
            </a:r>
          </a:p>
          <a:p>
            <a:pPr marL="0" indent="0">
              <a:buNone/>
            </a:pPr>
            <a:r>
              <a:rPr dirty="0"/>
              <a:t>• Today – Chatbots, self-driving cars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vs Human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Human:</a:t>
            </a:r>
          </a:p>
          <a:p>
            <a:pPr marL="0" indent="0">
              <a:buNone/>
            </a:pPr>
            <a:r>
              <a:rPr dirty="0"/>
              <a:t>• Learns from experience</a:t>
            </a:r>
          </a:p>
          <a:p>
            <a:pPr marL="0" indent="0">
              <a:buNone/>
            </a:pPr>
            <a:r>
              <a:rPr dirty="0"/>
              <a:t>• Has emotions &amp; creativity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AI:</a:t>
            </a:r>
          </a:p>
          <a:p>
            <a:pPr marL="0" indent="0">
              <a:buNone/>
            </a:pPr>
            <a:r>
              <a:rPr dirty="0"/>
              <a:t>• Learns from data</a:t>
            </a:r>
          </a:p>
          <a:p>
            <a:pPr marL="0" indent="0">
              <a:buNone/>
            </a:pPr>
            <a:r>
              <a:rPr dirty="0"/>
              <a:t>• No emotions, only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Subset of AI</a:t>
            </a:r>
          </a:p>
          <a:p>
            <a:pPr marL="0" indent="0">
              <a:buNone/>
            </a:pPr>
            <a:r>
              <a:rPr dirty="0"/>
              <a:t>• Machines learn from data without explicit programming</a:t>
            </a:r>
          </a:p>
          <a:p>
            <a:pPr marL="0" indent="0">
              <a:buNone/>
            </a:pPr>
            <a:r>
              <a:rPr dirty="0"/>
              <a:t>• Improves performance over time</a:t>
            </a:r>
          </a:p>
          <a:p>
            <a:endParaRPr dirty="0"/>
          </a:p>
          <a:p>
            <a:r>
              <a:rPr dirty="0"/>
              <a:t>Example: Spam email filter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vs ML vs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AI – Broad concept</a:t>
            </a:r>
          </a:p>
          <a:p>
            <a:pPr marL="0" indent="0">
              <a:buNone/>
            </a:pPr>
            <a:r>
              <a:rPr dirty="0"/>
              <a:t>• ML – Learning from data</a:t>
            </a:r>
          </a:p>
          <a:p>
            <a:pPr marL="0" indent="0">
              <a:buNone/>
            </a:pPr>
            <a:r>
              <a:rPr dirty="0"/>
              <a:t>• DL – Neural networks &amp; deep patterns</a:t>
            </a:r>
          </a:p>
          <a:p>
            <a:endParaRPr dirty="0"/>
          </a:p>
          <a:p>
            <a:r>
              <a:rPr dirty="0"/>
              <a:t>Analogy: University → Department → Specialization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Programming vs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Traditional Programming:</a:t>
            </a:r>
          </a:p>
          <a:p>
            <a:pPr marL="0" indent="0">
              <a:buNone/>
            </a:pPr>
            <a:r>
              <a:rPr dirty="0"/>
              <a:t>• Rules + Data → Output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Machine Learning:</a:t>
            </a:r>
          </a:p>
          <a:p>
            <a:pPr marL="0" indent="0">
              <a:buNone/>
            </a:pPr>
            <a:r>
              <a:rPr dirty="0"/>
              <a:t>• Data + Output → Model (rules learned)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Example: Calculator vs Face recognition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Data in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 is the fuel for ML</a:t>
            </a:r>
          </a:p>
          <a:p>
            <a:pPr marL="0" indent="0">
              <a:buNone/>
            </a:pPr>
            <a:r>
              <a:rPr dirty="0"/>
              <a:t>• Quality data leads to better predictions</a:t>
            </a:r>
          </a:p>
          <a:p>
            <a:pPr marL="0" indent="0">
              <a:buNone/>
            </a:pPr>
            <a:r>
              <a:rPr dirty="0"/>
              <a:t>• Poor data gives poor results</a:t>
            </a:r>
          </a:p>
          <a:p>
            <a:endParaRPr dirty="0"/>
          </a:p>
          <a:p>
            <a:r>
              <a:rPr dirty="0"/>
              <a:t>Garbage in → Garbage 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Learn AI &amp; ML?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High-demand skills</a:t>
            </a:r>
          </a:p>
          <a:p>
            <a:pPr marL="0" indent="0">
              <a:buNone/>
            </a:pPr>
            <a:r>
              <a:rPr dirty="0"/>
              <a:t>• Used across industries</a:t>
            </a:r>
          </a:p>
          <a:p>
            <a:pPr marL="0" indent="0">
              <a:buNone/>
            </a:pPr>
            <a:r>
              <a:rPr dirty="0"/>
              <a:t>• Improves decision-making</a:t>
            </a:r>
          </a:p>
          <a:p>
            <a:pPr marL="0" indent="0">
              <a:buNone/>
            </a:pPr>
            <a:r>
              <a:rPr dirty="0"/>
              <a:t>• Future-ready technology</a:t>
            </a:r>
          </a:p>
          <a:p>
            <a:endParaRPr dirty="0"/>
          </a:p>
          <a:p>
            <a:r>
              <a:rPr dirty="0"/>
              <a:t>AI won't replace humans — humans using AI will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AI Engineer</a:t>
            </a:r>
          </a:p>
          <a:p>
            <a:pPr marL="0" indent="0">
              <a:buNone/>
            </a:pPr>
            <a:r>
              <a:rPr dirty="0"/>
              <a:t>• ML Engineer</a:t>
            </a:r>
          </a:p>
          <a:p>
            <a:pPr marL="0" indent="0">
              <a:buNone/>
            </a:pPr>
            <a:r>
              <a:rPr dirty="0"/>
              <a:t>• Data Scientist</a:t>
            </a:r>
          </a:p>
          <a:p>
            <a:pPr marL="0" indent="0">
              <a:buNone/>
            </a:pPr>
            <a:r>
              <a:rPr dirty="0"/>
              <a:t>• Research Scientist</a:t>
            </a:r>
          </a:p>
          <a:p>
            <a:endParaRPr dirty="0"/>
          </a:p>
          <a:p>
            <a:r>
              <a:rPr dirty="0"/>
              <a:t>Data is the new oil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AI &amp;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Large amount of data</a:t>
            </a:r>
          </a:p>
          <a:p>
            <a:pPr marL="0" indent="0">
              <a:buNone/>
            </a:pPr>
            <a:r>
              <a:rPr dirty="0"/>
              <a:t>• Complex rules</a:t>
            </a:r>
          </a:p>
          <a:p>
            <a:pPr marL="0" indent="0">
              <a:buNone/>
            </a:pPr>
            <a:r>
              <a:rPr dirty="0"/>
              <a:t>• Predictions needed</a:t>
            </a:r>
          </a:p>
          <a:p>
            <a:pPr marL="0" indent="0">
              <a:buNone/>
            </a:pPr>
            <a:r>
              <a:rPr dirty="0"/>
              <a:t>• Automation required</a:t>
            </a:r>
          </a:p>
          <a:p>
            <a:endParaRPr dirty="0"/>
          </a:p>
          <a:p>
            <a:r>
              <a:rPr dirty="0"/>
              <a:t>Simple rules? No AI needed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is AI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Healthcare – Disease prediction</a:t>
            </a:r>
          </a:p>
          <a:p>
            <a:pPr marL="0" indent="0">
              <a:buNone/>
            </a:pPr>
            <a:r>
              <a:rPr dirty="0"/>
              <a:t>• Finance – Fraud detection</a:t>
            </a:r>
          </a:p>
          <a:p>
            <a:pPr marL="0" indent="0">
              <a:buNone/>
            </a:pPr>
            <a:r>
              <a:rPr dirty="0"/>
              <a:t>• Education – Personalized learning</a:t>
            </a:r>
          </a:p>
          <a:p>
            <a:pPr marL="0" indent="0">
              <a:buNone/>
            </a:pPr>
            <a:r>
              <a:rPr dirty="0"/>
              <a:t>• E-commerce – Recommendations</a:t>
            </a:r>
          </a:p>
          <a:p>
            <a:pPr marL="0" indent="0">
              <a:buNone/>
            </a:pPr>
            <a:r>
              <a:rPr dirty="0"/>
              <a:t>• Smart cities – Traffic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Machine Learning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1. Data collection</a:t>
            </a:r>
          </a:p>
          <a:p>
            <a:pPr marL="0" indent="0">
              <a:buNone/>
            </a:pPr>
            <a:r>
              <a:rPr dirty="0"/>
              <a:t>2. Data cleaning</a:t>
            </a:r>
          </a:p>
          <a:p>
            <a:pPr marL="0" indent="0">
              <a:buNone/>
            </a:pPr>
            <a:r>
              <a:rPr dirty="0"/>
              <a:t>3. Feature selection</a:t>
            </a:r>
          </a:p>
          <a:p>
            <a:pPr marL="0" indent="0">
              <a:buNone/>
            </a:pPr>
            <a:r>
              <a:rPr dirty="0"/>
              <a:t>4. Model training</a:t>
            </a:r>
          </a:p>
          <a:p>
            <a:pPr marL="0" indent="0">
              <a:buNone/>
            </a:pPr>
            <a:r>
              <a:rPr dirty="0"/>
              <a:t>5. Model testing</a:t>
            </a:r>
          </a:p>
          <a:p>
            <a:pPr marL="0" indent="0">
              <a:buNone/>
            </a:pPr>
            <a:r>
              <a:rPr dirty="0"/>
              <a:t>6. Prediction</a:t>
            </a:r>
          </a:p>
          <a:p>
            <a:endParaRPr dirty="0"/>
          </a:p>
          <a:p>
            <a:r>
              <a:rPr dirty="0"/>
              <a:t>Example: Predicting exam scores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Supervised Learning</a:t>
            </a:r>
          </a:p>
          <a:p>
            <a:pPr marL="0" indent="0">
              <a:buNone/>
            </a:pPr>
            <a:r>
              <a:rPr dirty="0"/>
              <a:t>• Unsupervised Learning</a:t>
            </a:r>
          </a:p>
          <a:p>
            <a:pPr marL="0" indent="0">
              <a:buNone/>
            </a:pPr>
            <a:r>
              <a:rPr dirty="0"/>
              <a:t>• Reinforcement Learning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 is labeled</a:t>
            </a:r>
          </a:p>
          <a:p>
            <a:pPr marL="0" indent="0">
              <a:buNone/>
            </a:pPr>
            <a:r>
              <a:rPr dirty="0"/>
              <a:t>• Input &amp; output known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Examples:</a:t>
            </a:r>
          </a:p>
          <a:p>
            <a:pPr marL="0" indent="0">
              <a:buNone/>
            </a:pPr>
            <a:r>
              <a:rPr dirty="0"/>
              <a:t>• Spam detection</a:t>
            </a:r>
          </a:p>
          <a:p>
            <a:pPr marL="0" indent="0">
              <a:buNone/>
            </a:pPr>
            <a:r>
              <a:rPr dirty="0"/>
              <a:t>• House price prediction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No labeled data</a:t>
            </a:r>
          </a:p>
          <a:p>
            <a:pPr marL="0" indent="0">
              <a:buNone/>
            </a:pPr>
            <a:r>
              <a:rPr dirty="0"/>
              <a:t>• Finds hidden patterns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Customer segmentation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Reinforcement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Learns through rewards &amp; penalties</a:t>
            </a:r>
          </a:p>
          <a:p>
            <a:pPr marL="0" indent="0">
              <a:buNone/>
            </a:pPr>
            <a:r>
              <a:rPr dirty="0"/>
              <a:t>• Improves by trial &amp; error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Examples:</a:t>
            </a:r>
          </a:p>
          <a:p>
            <a:pPr marL="0" indent="0">
              <a:buNone/>
            </a:pPr>
            <a:r>
              <a:rPr dirty="0"/>
              <a:t>• Chess bots</a:t>
            </a:r>
          </a:p>
          <a:p>
            <a:pPr marL="0" indent="0">
              <a:buNone/>
            </a:pPr>
            <a:r>
              <a:rPr dirty="0"/>
              <a:t>• Game AI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Issues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Bias in AI systems</a:t>
            </a:r>
          </a:p>
          <a:p>
            <a:pPr marL="0" indent="0">
              <a:buNone/>
            </a:pPr>
            <a:r>
              <a:rPr dirty="0"/>
              <a:t>• Data privacy concerns</a:t>
            </a:r>
          </a:p>
          <a:p>
            <a:pPr marL="0" indent="0">
              <a:buNone/>
            </a:pPr>
            <a:r>
              <a:rPr dirty="0"/>
              <a:t>• Job displacement fears</a:t>
            </a:r>
          </a:p>
          <a:p>
            <a:pPr marL="0" indent="0">
              <a:buNone/>
            </a:pPr>
            <a:r>
              <a:rPr dirty="0"/>
              <a:t>• Over-reliance on AI</a:t>
            </a:r>
          </a:p>
          <a:p>
            <a:endParaRPr dirty="0"/>
          </a:p>
          <a:p>
            <a:r>
              <a:rPr dirty="0"/>
              <a:t>Responsible AI is important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AI mimics human intelligence</a:t>
            </a:r>
          </a:p>
          <a:p>
            <a:pPr marL="0" indent="0">
              <a:buNone/>
            </a:pPr>
            <a:r>
              <a:rPr dirty="0"/>
              <a:t>• ML enables machines to learn from data</a:t>
            </a:r>
          </a:p>
          <a:p>
            <a:pPr marL="0" indent="0">
              <a:buNone/>
            </a:pPr>
            <a:r>
              <a:rPr dirty="0"/>
              <a:t>• Data is the backbone of AI</a:t>
            </a:r>
          </a:p>
          <a:p>
            <a:pPr marL="0" indent="0">
              <a:buNone/>
            </a:pPr>
            <a:r>
              <a:rPr dirty="0"/>
              <a:t>• Python is the key tool for AI &amp; 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Class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Python Basics for AI &amp; ML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We will learn:</a:t>
            </a:r>
          </a:p>
          <a:p>
            <a:pPr marL="0" indent="0">
              <a:buNone/>
            </a:pPr>
            <a:r>
              <a:rPr dirty="0"/>
              <a:t>• Variables &amp; data types</a:t>
            </a:r>
          </a:p>
          <a:p>
            <a:pPr marL="0" indent="0">
              <a:buNone/>
            </a:pPr>
            <a:r>
              <a:rPr dirty="0"/>
              <a:t>• Conditions &amp; loops</a:t>
            </a:r>
          </a:p>
          <a:p>
            <a:pPr marL="0" indent="0">
              <a:buNone/>
            </a:pPr>
            <a:r>
              <a:rPr dirty="0"/>
              <a:t>• Python for ML thinking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558</Words>
  <Application>Microsoft Office PowerPoint</Application>
  <PresentationFormat>On-screen Show (4:3)</PresentationFormat>
  <Paragraphs>133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Foundations of Artificial Intelligence &amp; Machine Learning</vt:lpstr>
      <vt:lpstr>What is Artificial Intelligence?</vt:lpstr>
      <vt:lpstr>AI in Daily Life</vt:lpstr>
      <vt:lpstr>History &amp; Evolution of AI</vt:lpstr>
      <vt:lpstr>AI vs Human Intelligence</vt:lpstr>
      <vt:lpstr>What is Machine Learning?</vt:lpstr>
      <vt:lpstr>AI vs ML vs Deep Learning</vt:lpstr>
      <vt:lpstr>Traditional Programming vs ML</vt:lpstr>
      <vt:lpstr>Role of Data in ML</vt:lpstr>
      <vt:lpstr>Why Learn AI &amp; ML?</vt:lpstr>
      <vt:lpstr>Career Opportunities</vt:lpstr>
      <vt:lpstr>When to Use AI &amp; ML</vt:lpstr>
      <vt:lpstr>Where is AI Used?</vt:lpstr>
      <vt:lpstr>How Machine Learning Works</vt:lpstr>
      <vt:lpstr>Types of Machine Learning</vt:lpstr>
      <vt:lpstr>Supervised Learning</vt:lpstr>
      <vt:lpstr>Unsupervised Learning</vt:lpstr>
      <vt:lpstr>Reinforcement Learning</vt:lpstr>
      <vt:lpstr>Ethical Issues &amp; Limitations</vt:lpstr>
      <vt:lpstr>Key Takeaways</vt:lpstr>
      <vt:lpstr>Next Class Preview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Janani ..</cp:lastModifiedBy>
  <cp:revision>2</cp:revision>
  <dcterms:created xsi:type="dcterms:W3CDTF">2013-01-27T09:14:16Z</dcterms:created>
  <dcterms:modified xsi:type="dcterms:W3CDTF">2026-01-03T09:17:16Z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0f7727a-510c-40ce-a418-7fdfc8e6513f_Enabled">
    <vt:lpwstr>true</vt:lpwstr>
  </property>
  <property fmtid="{D5CDD505-2E9C-101B-9397-08002B2CF9AE}" pid="3" name="MSIP_Label_00f7727a-510c-40ce-a418-7fdfc8e6513f_SetDate">
    <vt:lpwstr>2026-01-03T09:17:16Z</vt:lpwstr>
  </property>
  <property fmtid="{D5CDD505-2E9C-101B-9397-08002B2CF9AE}" pid="4" name="MSIP_Label_00f7727a-510c-40ce-a418-7fdfc8e6513f_Method">
    <vt:lpwstr>Standard</vt:lpwstr>
  </property>
  <property fmtid="{D5CDD505-2E9C-101B-9397-08002B2CF9AE}" pid="5" name="MSIP_Label_00f7727a-510c-40ce-a418-7fdfc8e6513f_Name">
    <vt:lpwstr>Classified (without encryption)</vt:lpwstr>
  </property>
  <property fmtid="{D5CDD505-2E9C-101B-9397-08002B2CF9AE}" pid="6" name="MSIP_Label_00f7727a-510c-40ce-a418-7fdfc8e6513f_SiteId">
    <vt:lpwstr>75b2f54b-feff-400d-8e0b-67102edb9a23</vt:lpwstr>
  </property>
  <property fmtid="{D5CDD505-2E9C-101B-9397-08002B2CF9AE}" pid="7" name="MSIP_Label_00f7727a-510c-40ce-a418-7fdfc8e6513f_ActionId">
    <vt:lpwstr>7ba77b67-805b-41df-9c87-85ee1a41fd62</vt:lpwstr>
  </property>
  <property fmtid="{D5CDD505-2E9C-101B-9397-08002B2CF9AE}" pid="8" name="MSIP_Label_00f7727a-510c-40ce-a418-7fdfc8e6513f_ContentBits">
    <vt:lpwstr>1</vt:lpwstr>
  </property>
  <property fmtid="{D5CDD505-2E9C-101B-9397-08002B2CF9AE}" pid="9" name="MSIP_Label_00f7727a-510c-40ce-a418-7fdfc8e6513f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Classified</vt:lpwstr>
  </property>
</Properties>
</file>